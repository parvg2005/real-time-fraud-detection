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Digital lending · hybrid detection · human investigation Local interview demonstration | FastAPI + React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Unusual amounts may be legitimate; a familiar device may be compromised. Signals need context: history, velocity, device and location. Investigators need evidence they can inspect, not an unexplained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Combine supervised prediction, deterministic rules and behavioral signals. Persist the features and evidence behind every policy decision. Keep the analyst in control of the investigation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Validate identity, role, amount and request schema. Derive features from committed history and Redis windows. Run ML + rules + behavior + anomaly + pgvector retrieval. Aggregate the score; commit evidence; notify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18,000 synthetic examples; 60 / 20 / 20 train-validation-test split. XGBoost model selection uses validation PR-AUC only. Isolation Forest detects departures from legitimate training behavior. No real-world fraud prevalence or deployment performance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TreeSHAP contributions are measured in log-odds. Contributions + base reconstruct the actual model prediction. Local prose cites captured evidence; it is explicitly not LLM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pgvector executes actual cosine similarity search. 256-dimensional local hashing vectors represent pattern text. Only confirmed cases from the matching embedding provider are retrieved. Reference cases are labeled synthetic; analyst confirmations enter retrieval.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JWT + bcrypt + ADMIN / ANALYST / VIEWER roles. Parameterized SQL, strict validation and minimized identifiers. Idempotency protects retries; per-customer locks protect velocity counts. Audit events capture access, policy edits and investigation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Known-device repayment → ALLOW. Unusual amount on familiar device → REVIEW. New device + new city + real burst → BLOCK. Confirm fraud, or mark legitimate and retain the original policy output.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Precision 88.83% | Recall 88.38% | F1 88.61%. PR-AUC 0.9285 | ROC-AUC 0.9779. False positive rate 1.37% | False negative rate 11.62%. The dashboard separately reports selected analyst-review feedback.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Risk is not proof; human review can correct false positives. No funds are moved, no creditworthiness is assessed, no users are banned. Next: representative data, calibration, fairness audits and durable jobs. At scale: shared events, vector indexes, model registry and rollback.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docs/PRESENTATION.md for the full talk track. Real-time detection. Persistent evidence. Human oversight. Run the complete demo locally: http://localhost:3000 Read the code, repeat the tests, inspect every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01</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FraudShield AI</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Real-time fraud intelligence.</a:t>
            </a:r>
          </a:p>
          <a:p>
            <a:pPr>
              <a:defRPr sz="2400" b="0">
                <a:solidFill>
                  <a:srgbClr val="8EC9F5"/>
                </a:solidFill>
                <a:latin typeface="Aptos"/>
              </a:defRPr>
            </a:pPr>
            <a:r>
              <a:t>Every signal explained.</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Digital lending · hybrid detection · human investigation</a:t>
            </a:r>
          </a:p>
          <a:p>
            <a:pPr>
              <a:defRPr sz="2200" b="0">
                <a:solidFill>
                  <a:srgbClr val="8CAACE"/>
                </a:solidFill>
                <a:latin typeface="Aptos"/>
              </a:defRPr>
            </a:pPr>
          </a:p>
          <a:p>
            <a:pPr>
              <a:defRPr sz="2200" b="0">
                <a:solidFill>
                  <a:srgbClr val="8CAACE"/>
                </a:solidFill>
                <a:latin typeface="Aptos"/>
              </a:defRPr>
            </a:pPr>
            <a:r>
              <a:t>• Local interview demonstration | FastAPI + React</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02</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The problem</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Static rules see fragments. Fraud spans behavior.</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Unusual amounts may be legitimate; a familiar device may be compromised.</a:t>
            </a:r>
          </a:p>
          <a:p>
            <a:pPr>
              <a:defRPr sz="2200" b="0">
                <a:solidFill>
                  <a:srgbClr val="8CAACE"/>
                </a:solidFill>
                <a:latin typeface="Aptos"/>
              </a:defRPr>
            </a:pPr>
          </a:p>
          <a:p>
            <a:pPr>
              <a:defRPr sz="2200" b="0">
                <a:solidFill>
                  <a:srgbClr val="8CAACE"/>
                </a:solidFill>
                <a:latin typeface="Aptos"/>
              </a:defRPr>
            </a:pPr>
            <a:r>
              <a:t>• Signals need context: history, velocity, device and location.</a:t>
            </a:r>
          </a:p>
          <a:p>
            <a:pPr>
              <a:defRPr sz="2200" b="0">
                <a:solidFill>
                  <a:srgbClr val="8CAACE"/>
                </a:solidFill>
                <a:latin typeface="Aptos"/>
              </a:defRPr>
            </a:pPr>
          </a:p>
          <a:p>
            <a:pPr>
              <a:defRPr sz="2200" b="0">
                <a:solidFill>
                  <a:srgbClr val="8CAACE"/>
                </a:solidFill>
                <a:latin typeface="Aptos"/>
              </a:defRPr>
            </a:pPr>
            <a:r>
              <a:t>• Investigators need evidence they can inspect, not an unexplained score.</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03</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The solution</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Detect → score → explain → investigate → learn</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Combine supervised prediction, deterministic rules and behavioral signals.</a:t>
            </a:r>
          </a:p>
          <a:p>
            <a:pPr>
              <a:defRPr sz="2200" b="0">
                <a:solidFill>
                  <a:srgbClr val="8CAACE"/>
                </a:solidFill>
                <a:latin typeface="Aptos"/>
              </a:defRPr>
            </a:pPr>
          </a:p>
          <a:p>
            <a:pPr>
              <a:defRPr sz="2200" b="0">
                <a:solidFill>
                  <a:srgbClr val="8CAACE"/>
                </a:solidFill>
                <a:latin typeface="Aptos"/>
              </a:defRPr>
            </a:pPr>
            <a:r>
              <a:t>• Persist the features and evidence behind every policy decision.</a:t>
            </a:r>
          </a:p>
          <a:p>
            <a:pPr>
              <a:defRPr sz="2200" b="0">
                <a:solidFill>
                  <a:srgbClr val="8CAACE"/>
                </a:solidFill>
                <a:latin typeface="Aptos"/>
              </a:defRPr>
            </a:pPr>
          </a:p>
          <a:p>
            <a:pPr>
              <a:defRPr sz="2200" b="0">
                <a:solidFill>
                  <a:srgbClr val="8CAACE"/>
                </a:solidFill>
                <a:latin typeface="Aptos"/>
              </a:defRPr>
            </a:pPr>
            <a:r>
              <a:t>• Keep the analyst in control of the investigation label.</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04</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Local architecture</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Five services. One complete workflow.</a:t>
            </a:r>
          </a:p>
        </p:txBody>
      </p:sp>
      <p:pic>
        <p:nvPicPr>
          <p:cNvPr id="5" name="Picture 4" descr="architecture.png"/>
          <p:cNvPicPr>
            <a:picLocks noChangeAspect="1"/>
          </p:cNvPicPr>
          <p:nvPr/>
        </p:nvPicPr>
        <p:blipFill>
          <a:blip r:embed="rId2"/>
          <a:stretch>
            <a:fillRect/>
          </a:stretch>
        </p:blipFill>
        <p:spPr>
          <a:xfrm>
            <a:off x="2689860" y="2286000"/>
            <a:ext cx="6781800" cy="4069080"/>
          </a:xfrm>
          <a:prstGeom prst="rect">
            <a:avLst/>
          </a:prstGeom>
        </p:spPr>
      </p:pic>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05</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The decision pipeline</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A transaction becomes an auditable decision.</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Validate identity, role, amount and request schema.</a:t>
            </a:r>
          </a:p>
          <a:p>
            <a:pPr>
              <a:defRPr sz="2200" b="0">
                <a:solidFill>
                  <a:srgbClr val="8CAACE"/>
                </a:solidFill>
                <a:latin typeface="Aptos"/>
              </a:defRPr>
            </a:pPr>
          </a:p>
          <a:p>
            <a:pPr>
              <a:defRPr sz="2200" b="0">
                <a:solidFill>
                  <a:srgbClr val="8CAACE"/>
                </a:solidFill>
                <a:latin typeface="Aptos"/>
              </a:defRPr>
            </a:pPr>
            <a:r>
              <a:t>• Derive features from committed history and Redis windows.</a:t>
            </a:r>
          </a:p>
          <a:p>
            <a:pPr>
              <a:defRPr sz="2200" b="0">
                <a:solidFill>
                  <a:srgbClr val="8CAACE"/>
                </a:solidFill>
                <a:latin typeface="Aptos"/>
              </a:defRPr>
            </a:pPr>
          </a:p>
          <a:p>
            <a:pPr>
              <a:defRPr sz="2200" b="0">
                <a:solidFill>
                  <a:srgbClr val="8CAACE"/>
                </a:solidFill>
                <a:latin typeface="Aptos"/>
              </a:defRPr>
            </a:pPr>
            <a:r>
              <a:t>• Run ML + rules + behavior + anomaly + pgvector retrieval.</a:t>
            </a:r>
          </a:p>
          <a:p>
            <a:pPr>
              <a:defRPr sz="2200" b="0">
                <a:solidFill>
                  <a:srgbClr val="8CAACE"/>
                </a:solidFill>
                <a:latin typeface="Aptos"/>
              </a:defRPr>
            </a:pPr>
          </a:p>
          <a:p>
            <a:pPr>
              <a:defRPr sz="2200" b="0">
                <a:solidFill>
                  <a:srgbClr val="8CAACE"/>
                </a:solidFill>
                <a:latin typeface="Aptos"/>
              </a:defRPr>
            </a:pPr>
            <a:r>
              <a:t>• Aggregate the score; commit evidence; notify the dashboard.</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06</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Machine learning</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Train and measure. Never hardcode predictions.</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18,000 synthetic examples; 60 / 20 / 20 train-validation-test split.</a:t>
            </a:r>
          </a:p>
          <a:p>
            <a:pPr>
              <a:defRPr sz="2200" b="0">
                <a:solidFill>
                  <a:srgbClr val="8CAACE"/>
                </a:solidFill>
                <a:latin typeface="Aptos"/>
              </a:defRPr>
            </a:pPr>
          </a:p>
          <a:p>
            <a:pPr>
              <a:defRPr sz="2200" b="0">
                <a:solidFill>
                  <a:srgbClr val="8CAACE"/>
                </a:solidFill>
                <a:latin typeface="Aptos"/>
              </a:defRPr>
            </a:pPr>
            <a:r>
              <a:t>• XGBoost model selection uses validation PR-AUC only.</a:t>
            </a:r>
          </a:p>
          <a:p>
            <a:pPr>
              <a:defRPr sz="2200" b="0">
                <a:solidFill>
                  <a:srgbClr val="8CAACE"/>
                </a:solidFill>
                <a:latin typeface="Aptos"/>
              </a:defRPr>
            </a:pPr>
          </a:p>
          <a:p>
            <a:pPr>
              <a:defRPr sz="2200" b="0">
                <a:solidFill>
                  <a:srgbClr val="8CAACE"/>
                </a:solidFill>
                <a:latin typeface="Aptos"/>
              </a:defRPr>
            </a:pPr>
            <a:r>
              <a:t>• Isolation Forest detects departures from legitimate training behavior.</a:t>
            </a:r>
          </a:p>
          <a:p>
            <a:pPr>
              <a:defRPr sz="2200" b="0">
                <a:solidFill>
                  <a:srgbClr val="8CAACE"/>
                </a:solidFill>
                <a:latin typeface="Aptos"/>
              </a:defRPr>
            </a:pPr>
          </a:p>
          <a:p>
            <a:pPr>
              <a:defRPr sz="2200" b="0">
                <a:solidFill>
                  <a:srgbClr val="8CAACE"/>
                </a:solidFill>
                <a:latin typeface="Aptos"/>
              </a:defRPr>
            </a:pPr>
            <a:r>
              <a:t>• No real-world fraud prevalence or deployment performance is claimed.</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07</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Explainability</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Show why the model moved.</a:t>
            </a:r>
          </a:p>
        </p:txBody>
      </p:sp>
      <p:sp>
        <p:nvSpPr>
          <p:cNvPr id="5" name="TextBox 4"/>
          <p:cNvSpPr txBox="1"/>
          <p:nvPr/>
        </p:nvSpPr>
        <p:spPr>
          <a:xfrm>
            <a:off x="548640" y="2697480"/>
            <a:ext cx="3840480" cy="3474720"/>
          </a:xfrm>
          <a:prstGeom prst="rect">
            <a:avLst/>
          </a:prstGeom>
          <a:noFill/>
        </p:spPr>
        <p:txBody>
          <a:bodyPr wrap="square">
            <a:spAutoFit/>
          </a:bodyPr>
          <a:lstStyle/>
          <a:p>
            <a:pPr>
              <a:defRPr sz="1600" b="0">
                <a:solidFill>
                  <a:srgbClr val="89A6CE"/>
                </a:solidFill>
                <a:latin typeface="Aptos"/>
              </a:defRPr>
            </a:pPr>
            <a:r>
              <a:t>• TreeSHAP contributions are measured in log-odds.</a:t>
            </a:r>
          </a:p>
          <a:p>
            <a:pPr>
              <a:defRPr sz="1600" b="0">
                <a:solidFill>
                  <a:srgbClr val="89A6CE"/>
                </a:solidFill>
                <a:latin typeface="Aptos"/>
              </a:defRPr>
            </a:pPr>
          </a:p>
          <a:p>
            <a:pPr>
              <a:defRPr sz="1600" b="0">
                <a:solidFill>
                  <a:srgbClr val="89A6CE"/>
                </a:solidFill>
                <a:latin typeface="Aptos"/>
              </a:defRPr>
            </a:pPr>
            <a:r>
              <a:t>• Contributions + base reconstruct the actual model prediction.</a:t>
            </a:r>
          </a:p>
          <a:p>
            <a:pPr>
              <a:defRPr sz="1600" b="0">
                <a:solidFill>
                  <a:srgbClr val="89A6CE"/>
                </a:solidFill>
                <a:latin typeface="Aptos"/>
              </a:defRPr>
            </a:pPr>
          </a:p>
          <a:p>
            <a:pPr>
              <a:defRPr sz="1600" b="0">
                <a:solidFill>
                  <a:srgbClr val="89A6CE"/>
                </a:solidFill>
                <a:latin typeface="Aptos"/>
              </a:defRPr>
            </a:pPr>
            <a:r>
              <a:t>• Local prose cites captured evidence; it is explicitly not LLM output.</a:t>
            </a:r>
          </a:p>
        </p:txBody>
      </p:sp>
      <p:pic>
        <p:nvPicPr>
          <p:cNvPr id="6" name="Picture 5" descr="explainability.png"/>
          <p:cNvPicPr>
            <a:picLocks noChangeAspect="1"/>
          </p:cNvPicPr>
          <p:nvPr/>
        </p:nvPicPr>
        <p:blipFill>
          <a:blip r:embed="rId2"/>
          <a:stretch>
            <a:fillRect/>
          </a:stretch>
        </p:blipFill>
        <p:spPr>
          <a:xfrm>
            <a:off x="5198364" y="2560320"/>
            <a:ext cx="5925312" cy="3703320"/>
          </a:xfrm>
          <a:prstGeom prst="rect">
            <a:avLst/>
          </a:prstGeom>
        </p:spPr>
      </p:pic>
      <p:sp>
        <p:nvSpPr>
          <p:cNvPr id="7" name="TextBox 6"/>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08</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Historical cases</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Similar patterns add context, not certainty.</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pgvector executes actual cosine similarity search.</a:t>
            </a:r>
          </a:p>
          <a:p>
            <a:pPr>
              <a:defRPr sz="2200" b="0">
                <a:solidFill>
                  <a:srgbClr val="8CAACE"/>
                </a:solidFill>
                <a:latin typeface="Aptos"/>
              </a:defRPr>
            </a:pPr>
          </a:p>
          <a:p>
            <a:pPr>
              <a:defRPr sz="2200" b="0">
                <a:solidFill>
                  <a:srgbClr val="8CAACE"/>
                </a:solidFill>
                <a:latin typeface="Aptos"/>
              </a:defRPr>
            </a:pPr>
            <a:r>
              <a:t>• 256-dimensional local hashing vectors represent pattern text.</a:t>
            </a:r>
          </a:p>
          <a:p>
            <a:pPr>
              <a:defRPr sz="2200" b="0">
                <a:solidFill>
                  <a:srgbClr val="8CAACE"/>
                </a:solidFill>
                <a:latin typeface="Aptos"/>
              </a:defRPr>
            </a:pPr>
          </a:p>
          <a:p>
            <a:pPr>
              <a:defRPr sz="2200" b="0">
                <a:solidFill>
                  <a:srgbClr val="8CAACE"/>
                </a:solidFill>
                <a:latin typeface="Aptos"/>
              </a:defRPr>
            </a:pPr>
            <a:r>
              <a:t>• Only confirmed cases from the matching embedding provider are retrieved.</a:t>
            </a:r>
          </a:p>
          <a:p>
            <a:pPr>
              <a:defRPr sz="2200" b="0">
                <a:solidFill>
                  <a:srgbClr val="8CAACE"/>
                </a:solidFill>
                <a:latin typeface="Aptos"/>
              </a:defRPr>
            </a:pPr>
          </a:p>
          <a:p>
            <a:pPr>
              <a:defRPr sz="2200" b="0">
                <a:solidFill>
                  <a:srgbClr val="8CAACE"/>
                </a:solidFill>
                <a:latin typeface="Aptos"/>
              </a:defRPr>
            </a:pPr>
            <a:r>
              <a:t>• Reference cases are labeled synthetic; analyst confirmations enter retrieval.</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09</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Security and consistency</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Make the boundaries explicit.</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JWT + bcrypt + ADMIN / ANALYST / VIEWER roles.</a:t>
            </a:r>
          </a:p>
          <a:p>
            <a:pPr>
              <a:defRPr sz="2200" b="0">
                <a:solidFill>
                  <a:srgbClr val="8CAACE"/>
                </a:solidFill>
                <a:latin typeface="Aptos"/>
              </a:defRPr>
            </a:pPr>
          </a:p>
          <a:p>
            <a:pPr>
              <a:defRPr sz="2200" b="0">
                <a:solidFill>
                  <a:srgbClr val="8CAACE"/>
                </a:solidFill>
                <a:latin typeface="Aptos"/>
              </a:defRPr>
            </a:pPr>
            <a:r>
              <a:t>• Parameterized SQL, strict validation and minimized identifiers.</a:t>
            </a:r>
          </a:p>
          <a:p>
            <a:pPr>
              <a:defRPr sz="2200" b="0">
                <a:solidFill>
                  <a:srgbClr val="8CAACE"/>
                </a:solidFill>
                <a:latin typeface="Aptos"/>
              </a:defRPr>
            </a:pPr>
          </a:p>
          <a:p>
            <a:pPr>
              <a:defRPr sz="2200" b="0">
                <a:solidFill>
                  <a:srgbClr val="8CAACE"/>
                </a:solidFill>
                <a:latin typeface="Aptos"/>
              </a:defRPr>
            </a:pPr>
            <a:r>
              <a:t>• Idempotency protects retries; per-customer locks protect velocity counts.</a:t>
            </a:r>
          </a:p>
          <a:p>
            <a:pPr>
              <a:defRPr sz="2200" b="0">
                <a:solidFill>
                  <a:srgbClr val="8CAACE"/>
                </a:solidFill>
                <a:latin typeface="Aptos"/>
              </a:defRPr>
            </a:pPr>
          </a:p>
          <a:p>
            <a:pPr>
              <a:defRPr sz="2200" b="0">
                <a:solidFill>
                  <a:srgbClr val="8CAACE"/>
                </a:solidFill>
                <a:latin typeface="Aptos"/>
              </a:defRPr>
            </a:pPr>
            <a:r>
              <a:t>• Audit events capture access, policy edits and investigation decisions.</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10</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The dashboard</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A workspace for fraud operations.</a:t>
            </a:r>
          </a:p>
        </p:txBody>
      </p:sp>
      <p:pic>
        <p:nvPicPr>
          <p:cNvPr id="5" name="Picture 4" descr="dashboard.png"/>
          <p:cNvPicPr>
            <a:picLocks noChangeAspect="1"/>
          </p:cNvPicPr>
          <p:nvPr/>
        </p:nvPicPr>
        <p:blipFill>
          <a:blip r:embed="rId2"/>
          <a:stretch>
            <a:fillRect/>
          </a:stretch>
        </p:blipFill>
        <p:spPr>
          <a:xfrm>
            <a:off x="2825495" y="2286000"/>
            <a:ext cx="6510528" cy="4069080"/>
          </a:xfrm>
          <a:prstGeom prst="rect">
            <a:avLst/>
          </a:prstGeom>
        </p:spPr>
      </p:pic>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11</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Live demonstration</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Normal → review → block → investigate</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Known-device repayment → ALLOW.</a:t>
            </a:r>
          </a:p>
          <a:p>
            <a:pPr>
              <a:defRPr sz="2200" b="0">
                <a:solidFill>
                  <a:srgbClr val="8CAACE"/>
                </a:solidFill>
                <a:latin typeface="Aptos"/>
              </a:defRPr>
            </a:pPr>
          </a:p>
          <a:p>
            <a:pPr>
              <a:defRPr sz="2200" b="0">
                <a:solidFill>
                  <a:srgbClr val="8CAACE"/>
                </a:solidFill>
                <a:latin typeface="Aptos"/>
              </a:defRPr>
            </a:pPr>
            <a:r>
              <a:t>• Unusual amount on familiar device → REVIEW.</a:t>
            </a:r>
          </a:p>
          <a:p>
            <a:pPr>
              <a:defRPr sz="2200" b="0">
                <a:solidFill>
                  <a:srgbClr val="8CAACE"/>
                </a:solidFill>
                <a:latin typeface="Aptos"/>
              </a:defRPr>
            </a:pPr>
          </a:p>
          <a:p>
            <a:pPr>
              <a:defRPr sz="2200" b="0">
                <a:solidFill>
                  <a:srgbClr val="8CAACE"/>
                </a:solidFill>
                <a:latin typeface="Aptos"/>
              </a:defRPr>
            </a:pPr>
            <a:r>
              <a:t>• New device + new city + real burst → BLOCK.</a:t>
            </a:r>
          </a:p>
          <a:p>
            <a:pPr>
              <a:defRPr sz="2200" b="0">
                <a:solidFill>
                  <a:srgbClr val="8CAACE"/>
                </a:solidFill>
                <a:latin typeface="Aptos"/>
              </a:defRPr>
            </a:pPr>
          </a:p>
          <a:p>
            <a:pPr>
              <a:defRPr sz="2200" b="0">
                <a:solidFill>
                  <a:srgbClr val="8CAACE"/>
                </a:solidFill>
                <a:latin typeface="Aptos"/>
              </a:defRPr>
            </a:pPr>
            <a:r>
              <a:t>• Confirm fraud, or mark legitimate and retain the original policy output.</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12</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Measured results</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Synthetic holdout performance — not a production claim.</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Precision 88.83% | Recall 88.38% | F1 88.61%.</a:t>
            </a:r>
          </a:p>
          <a:p>
            <a:pPr>
              <a:defRPr sz="2200" b="0">
                <a:solidFill>
                  <a:srgbClr val="8CAACE"/>
                </a:solidFill>
                <a:latin typeface="Aptos"/>
              </a:defRPr>
            </a:pPr>
          </a:p>
          <a:p>
            <a:pPr>
              <a:defRPr sz="2200" b="0">
                <a:solidFill>
                  <a:srgbClr val="8CAACE"/>
                </a:solidFill>
                <a:latin typeface="Aptos"/>
              </a:defRPr>
            </a:pPr>
            <a:r>
              <a:t>• PR-AUC 0.9285 | ROC-AUC 0.9779.</a:t>
            </a:r>
          </a:p>
          <a:p>
            <a:pPr>
              <a:defRPr sz="2200" b="0">
                <a:solidFill>
                  <a:srgbClr val="8CAACE"/>
                </a:solidFill>
                <a:latin typeface="Aptos"/>
              </a:defRPr>
            </a:pPr>
          </a:p>
          <a:p>
            <a:pPr>
              <a:defRPr sz="2200" b="0">
                <a:solidFill>
                  <a:srgbClr val="8CAACE"/>
                </a:solidFill>
                <a:latin typeface="Aptos"/>
              </a:defRPr>
            </a:pPr>
            <a:r>
              <a:t>• False positive rate 1.37% | False negative rate 11.62%.</a:t>
            </a:r>
          </a:p>
          <a:p>
            <a:pPr>
              <a:defRPr sz="2200" b="0">
                <a:solidFill>
                  <a:srgbClr val="8CAACE"/>
                </a:solidFill>
                <a:latin typeface="Aptos"/>
              </a:defRPr>
            </a:pPr>
          </a:p>
          <a:p>
            <a:pPr>
              <a:defRPr sz="2200" b="0">
                <a:solidFill>
                  <a:srgbClr val="8CAACE"/>
                </a:solidFill>
                <a:latin typeface="Aptos"/>
              </a:defRPr>
            </a:pPr>
            <a:r>
              <a:t>• The dashboard separately reports selected analyst-review feedback.</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13</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Responsible AI and future scope</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A useful prototype has honest limits.</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Risk is not proof; human review can correct false positives.</a:t>
            </a:r>
          </a:p>
          <a:p>
            <a:pPr>
              <a:defRPr sz="2200" b="0">
                <a:solidFill>
                  <a:srgbClr val="8CAACE"/>
                </a:solidFill>
                <a:latin typeface="Aptos"/>
              </a:defRPr>
            </a:pPr>
          </a:p>
          <a:p>
            <a:pPr>
              <a:defRPr sz="2200" b="0">
                <a:solidFill>
                  <a:srgbClr val="8CAACE"/>
                </a:solidFill>
                <a:latin typeface="Aptos"/>
              </a:defRPr>
            </a:pPr>
            <a:r>
              <a:t>• No funds are moved, no creditworthiness is assessed, no users are banned.</a:t>
            </a:r>
          </a:p>
          <a:p>
            <a:pPr>
              <a:defRPr sz="2200" b="0">
                <a:solidFill>
                  <a:srgbClr val="8CAACE"/>
                </a:solidFill>
                <a:latin typeface="Aptos"/>
              </a:defRPr>
            </a:pPr>
          </a:p>
          <a:p>
            <a:pPr>
              <a:defRPr sz="2200" b="0">
                <a:solidFill>
                  <a:srgbClr val="8CAACE"/>
                </a:solidFill>
                <a:latin typeface="Aptos"/>
              </a:defRPr>
            </a:pPr>
            <a:r>
              <a:t>• Next: representative data, calibration, fairness audits and durable jobs.</a:t>
            </a:r>
          </a:p>
          <a:p>
            <a:pPr>
              <a:defRPr sz="2200" b="0">
                <a:solidFill>
                  <a:srgbClr val="8CAACE"/>
                </a:solidFill>
                <a:latin typeface="Aptos"/>
              </a:defRPr>
            </a:pPr>
          </a:p>
          <a:p>
            <a:pPr>
              <a:defRPr sz="2200" b="0">
                <a:solidFill>
                  <a:srgbClr val="8CAACE"/>
                </a:solidFill>
                <a:latin typeface="Aptos"/>
              </a:defRPr>
            </a:pPr>
            <a:r>
              <a:t>• At scale: shared events, vector indexes, model registry and rollback.</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48640" y="320040"/>
            <a:ext cx="10058400" cy="365760"/>
          </a:xfrm>
          <a:prstGeom prst="rect">
            <a:avLst/>
          </a:prstGeom>
          <a:noFill/>
        </p:spPr>
        <p:txBody>
          <a:bodyPr wrap="square">
            <a:spAutoFit/>
          </a:bodyPr>
          <a:lstStyle/>
          <a:p>
            <a:pPr>
              <a:defRPr sz="1100" b="1">
                <a:solidFill>
                  <a:srgbClr val="76A0CF"/>
                </a:solidFill>
                <a:latin typeface="Aptos"/>
              </a:defRPr>
            </a:pPr>
            <a:r>
              <a:t>FRAUDSHIELD AI  /  14</a:t>
            </a:r>
          </a:p>
        </p:txBody>
      </p:sp>
      <p:sp>
        <p:nvSpPr>
          <p:cNvPr id="3" name="TextBox 2"/>
          <p:cNvSpPr txBox="1"/>
          <p:nvPr/>
        </p:nvSpPr>
        <p:spPr>
          <a:xfrm>
            <a:off x="548640" y="868680"/>
            <a:ext cx="10972800" cy="594360"/>
          </a:xfrm>
          <a:prstGeom prst="rect">
            <a:avLst/>
          </a:prstGeom>
          <a:noFill/>
        </p:spPr>
        <p:txBody>
          <a:bodyPr wrap="square">
            <a:spAutoFit/>
          </a:bodyPr>
          <a:lstStyle/>
          <a:p>
            <a:pPr>
              <a:defRPr sz="3000" b="1">
                <a:solidFill>
                  <a:srgbClr val="CDE4FF"/>
                </a:solidFill>
                <a:latin typeface="Aptos"/>
              </a:defRPr>
            </a:pPr>
            <a:r>
              <a:t>FraudShield AI</a:t>
            </a:r>
          </a:p>
        </p:txBody>
      </p:sp>
      <p:sp>
        <p:nvSpPr>
          <p:cNvPr id="4" name="TextBox 3"/>
          <p:cNvSpPr txBox="1"/>
          <p:nvPr/>
        </p:nvSpPr>
        <p:spPr>
          <a:xfrm>
            <a:off x="548640" y="1572768"/>
            <a:ext cx="10972800" cy="731520"/>
          </a:xfrm>
          <a:prstGeom prst="rect">
            <a:avLst/>
          </a:prstGeom>
          <a:noFill/>
        </p:spPr>
        <p:txBody>
          <a:bodyPr wrap="square">
            <a:spAutoFit/>
          </a:bodyPr>
          <a:lstStyle/>
          <a:p>
            <a:pPr>
              <a:defRPr sz="2400" b="0">
                <a:solidFill>
                  <a:srgbClr val="8EC9F5"/>
                </a:solidFill>
                <a:latin typeface="Aptos"/>
              </a:defRPr>
            </a:pPr>
            <a:r>
              <a:t>From reactive rules to explainable fraud intelligence.</a:t>
            </a:r>
          </a:p>
        </p:txBody>
      </p:sp>
      <p:sp>
        <p:nvSpPr>
          <p:cNvPr id="5" name="TextBox 4"/>
          <p:cNvSpPr txBox="1"/>
          <p:nvPr/>
        </p:nvSpPr>
        <p:spPr>
          <a:xfrm>
            <a:off x="685800" y="2743200"/>
            <a:ext cx="10607040" cy="3474720"/>
          </a:xfrm>
          <a:prstGeom prst="rect">
            <a:avLst/>
          </a:prstGeom>
          <a:noFill/>
        </p:spPr>
        <p:txBody>
          <a:bodyPr wrap="square">
            <a:spAutoFit/>
          </a:bodyPr>
          <a:lstStyle/>
          <a:p>
            <a:pPr>
              <a:defRPr sz="2200" b="0">
                <a:solidFill>
                  <a:srgbClr val="8CAACE"/>
                </a:solidFill>
                <a:latin typeface="Aptos"/>
              </a:defRPr>
            </a:pPr>
            <a:r>
              <a:t>• Real-time detection. Persistent evidence. Human oversight.</a:t>
            </a:r>
          </a:p>
          <a:p>
            <a:pPr>
              <a:defRPr sz="2200" b="0">
                <a:solidFill>
                  <a:srgbClr val="8CAACE"/>
                </a:solidFill>
                <a:latin typeface="Aptos"/>
              </a:defRPr>
            </a:pPr>
          </a:p>
          <a:p>
            <a:pPr>
              <a:defRPr sz="2200" b="0">
                <a:solidFill>
                  <a:srgbClr val="8CAACE"/>
                </a:solidFill>
                <a:latin typeface="Aptos"/>
              </a:defRPr>
            </a:pPr>
            <a:r>
              <a:t>• Run the complete demo locally: http://localhost:3000</a:t>
            </a:r>
          </a:p>
          <a:p>
            <a:pPr>
              <a:defRPr sz="2200" b="0">
                <a:solidFill>
                  <a:srgbClr val="8CAACE"/>
                </a:solidFill>
                <a:latin typeface="Aptos"/>
              </a:defRPr>
            </a:pPr>
          </a:p>
          <a:p>
            <a:pPr>
              <a:defRPr sz="2200" b="0">
                <a:solidFill>
                  <a:srgbClr val="8CAACE"/>
                </a:solidFill>
                <a:latin typeface="Aptos"/>
              </a:defRPr>
            </a:pPr>
            <a:r>
              <a:t>• Read the code, repeat the tests, inspect every decision.</a:t>
            </a:r>
          </a:p>
        </p:txBody>
      </p:sp>
      <p:sp>
        <p:nvSpPr>
          <p:cNvPr id="6" name="TextBox 5"/>
          <p:cNvSpPr txBox="1"/>
          <p:nvPr/>
        </p:nvSpPr>
        <p:spPr>
          <a:xfrm>
            <a:off x="548640" y="6492240"/>
            <a:ext cx="10972800" cy="228600"/>
          </a:xfrm>
          <a:prstGeom prst="rect">
            <a:avLst/>
          </a:prstGeom>
          <a:noFill/>
        </p:spPr>
        <p:txBody>
          <a:bodyPr wrap="square">
            <a:spAutoFit/>
          </a:bodyPr>
          <a:lstStyle/>
          <a:p>
            <a:pPr>
              <a:defRPr sz="900" b="0">
                <a:solidFill>
                  <a:srgbClr val="5D81AD"/>
                </a:solidFill>
                <a:latin typeface="Aptos"/>
              </a:defRPr>
            </a:pPr>
            <a:r>
              <a:t>LOCAL DEMONSTRATION  ·  SYNTHETIC DATA  ·  REAL INFERENCE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